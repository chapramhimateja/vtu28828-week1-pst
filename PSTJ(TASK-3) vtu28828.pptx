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2357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309" y="864843"/>
            <a:ext cx="5435600" cy="74297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400"/>
              </a:lnSpc>
              <a:spcBef>
                <a:spcPts val="100"/>
              </a:spcBef>
              <a:tabLst>
                <a:tab pos="1632585" algn="l"/>
                <a:tab pos="1842135" algn="l"/>
              </a:tabLst>
            </a:pPr>
            <a:r>
              <a:rPr sz="1400" b="1" spc="-10" dirty="0">
                <a:latin typeface="Arial"/>
                <a:cs typeface="Arial"/>
              </a:rPr>
              <a:t>SUBJECT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50" dirty="0">
                <a:latin typeface="Arial"/>
                <a:cs typeface="Arial"/>
              </a:rPr>
              <a:t>:</a:t>
            </a:r>
            <a:r>
              <a:rPr sz="1400" b="1" dirty="0">
                <a:latin typeface="Arial"/>
                <a:cs typeface="Arial"/>
              </a:rPr>
              <a:t>	PROBLEM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spc="-25" dirty="0">
                <a:latin typeface="Arial"/>
                <a:cs typeface="Arial"/>
              </a:rPr>
              <a:t>SOLVING</a:t>
            </a:r>
            <a:r>
              <a:rPr sz="1400" b="1" spc="-8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AND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TESTING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USING </a:t>
            </a:r>
            <a:r>
              <a:rPr sz="1400" b="1" spc="-20" dirty="0">
                <a:latin typeface="Arial"/>
                <a:cs typeface="Arial"/>
              </a:rPr>
              <a:t>JAVA</a:t>
            </a:r>
            <a:endParaRPr sz="1400" dirty="0">
              <a:latin typeface="Arial"/>
              <a:cs typeface="Arial"/>
            </a:endParaRPr>
          </a:p>
          <a:p>
            <a:pPr marL="12700" marR="2230755">
              <a:lnSpc>
                <a:spcPts val="2670"/>
              </a:lnSpc>
              <a:spcBef>
                <a:spcPts val="245"/>
              </a:spcBef>
              <a:tabLst>
                <a:tab pos="1679575" algn="l"/>
              </a:tabLst>
            </a:pPr>
            <a:r>
              <a:rPr sz="1400" b="1" dirty="0">
                <a:latin typeface="Arial"/>
                <a:cs typeface="Arial"/>
              </a:rPr>
              <a:t>STUDENT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NAME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50" dirty="0">
                <a:latin typeface="Arial"/>
                <a:cs typeface="Arial"/>
              </a:rPr>
              <a:t>: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lang="en-IN" sz="1400" b="1" spc="-40" dirty="0" err="1">
                <a:latin typeface="Arial"/>
                <a:cs typeface="Arial"/>
              </a:rPr>
              <a:t>C.Himateja</a:t>
            </a:r>
            <a:endParaRPr lang="en-IN" sz="1400" b="1" spc="-40" dirty="0">
              <a:latin typeface="Arial"/>
              <a:cs typeface="Arial"/>
            </a:endParaRPr>
          </a:p>
          <a:p>
            <a:pPr marL="12700" marR="2230755">
              <a:lnSpc>
                <a:spcPts val="2670"/>
              </a:lnSpc>
              <a:spcBef>
                <a:spcPts val="245"/>
              </a:spcBef>
              <a:tabLst>
                <a:tab pos="1679575" algn="l"/>
              </a:tabLst>
            </a:pPr>
            <a:r>
              <a:rPr sz="1400" b="1" dirty="0">
                <a:latin typeface="Arial"/>
                <a:cs typeface="Arial"/>
              </a:rPr>
              <a:t>COURSE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CODE</a:t>
            </a:r>
            <a:r>
              <a:rPr sz="1400" b="1" spc="35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:</a:t>
            </a:r>
            <a:r>
              <a:rPr sz="1400" b="1" spc="35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10211CS227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  <a:tabLst>
                <a:tab pos="1496695" algn="l"/>
                <a:tab pos="1701800" algn="l"/>
              </a:tabLst>
            </a:pPr>
            <a:r>
              <a:rPr sz="1400" b="1" dirty="0">
                <a:latin typeface="Arial"/>
                <a:cs typeface="Arial"/>
              </a:rPr>
              <a:t>VTU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NUMBER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50" dirty="0">
                <a:latin typeface="Arial"/>
                <a:cs typeface="Arial"/>
              </a:rPr>
              <a:t>:</a:t>
            </a:r>
            <a:r>
              <a:rPr sz="1400" b="1" dirty="0">
                <a:latin typeface="Arial"/>
                <a:cs typeface="Arial"/>
              </a:rPr>
              <a:t>	</a:t>
            </a:r>
            <a:r>
              <a:rPr sz="1400" b="1" spc="-10" dirty="0">
                <a:latin typeface="Arial"/>
                <a:cs typeface="Arial"/>
              </a:rPr>
              <a:t>VTU</a:t>
            </a:r>
            <a:r>
              <a:rPr lang="en-IN" sz="1400" b="1" spc="-10" dirty="0">
                <a:latin typeface="Arial"/>
                <a:cs typeface="Arial"/>
              </a:rPr>
              <a:t>28828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400" dirty="0">
              <a:latin typeface="Arial"/>
              <a:cs typeface="Arial"/>
            </a:endParaRPr>
          </a:p>
          <a:p>
            <a:pPr marL="12700" marR="2066925">
              <a:lnSpc>
                <a:spcPct val="158700"/>
              </a:lnSpc>
            </a:pPr>
            <a:r>
              <a:rPr sz="1400" b="1" spc="-10" dirty="0">
                <a:latin typeface="Arial"/>
                <a:cs typeface="Arial"/>
              </a:rPr>
              <a:t>Task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3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(Easy):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Maximum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Profit</a:t>
            </a:r>
            <a:r>
              <a:rPr sz="1400" b="1" spc="-9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Analyzer </a:t>
            </a:r>
            <a:r>
              <a:rPr sz="1400" b="1" dirty="0">
                <a:latin typeface="Arial"/>
                <a:cs typeface="Arial"/>
              </a:rPr>
              <a:t>Problem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Description</a:t>
            </a:r>
            <a:endParaRPr sz="1400" dirty="0">
              <a:latin typeface="Arial"/>
              <a:cs typeface="Arial"/>
            </a:endParaRPr>
          </a:p>
          <a:p>
            <a:pPr marL="12700" marR="416559">
              <a:lnSpc>
                <a:spcPct val="111500"/>
              </a:lnSpc>
              <a:spcBef>
                <a:spcPts val="795"/>
              </a:spcBef>
            </a:pPr>
            <a:r>
              <a:rPr sz="1400" dirty="0">
                <a:latin typeface="Arial"/>
                <a:cs typeface="Arial"/>
              </a:rPr>
              <a:t>Given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daily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profit/loss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values,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find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maximum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possible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profit </a:t>
            </a:r>
            <a:r>
              <a:rPr sz="1400" dirty="0">
                <a:latin typeface="Arial"/>
                <a:cs typeface="Arial"/>
              </a:rPr>
              <a:t>obtainable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from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contiguous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sequence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days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using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Kadane’s Algorithm.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400" b="1" dirty="0">
                <a:latin typeface="Arial"/>
                <a:cs typeface="Arial"/>
              </a:rPr>
              <a:t>Input</a:t>
            </a:r>
            <a:r>
              <a:rPr sz="1400" b="1" spc="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Format</a:t>
            </a:r>
            <a:endParaRPr sz="1400" dirty="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990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sz="1400" dirty="0">
                <a:latin typeface="Arial"/>
                <a:cs typeface="Arial"/>
              </a:rPr>
              <a:t>First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line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contains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integer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N.</a:t>
            </a:r>
            <a:endParaRPr sz="1400" dirty="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985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sz="1400" dirty="0">
                <a:latin typeface="Arial"/>
                <a:cs typeface="Arial"/>
              </a:rPr>
              <a:t>Second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line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contains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integers.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400" b="1" dirty="0">
                <a:latin typeface="Arial"/>
                <a:cs typeface="Arial"/>
              </a:rPr>
              <a:t>Output</a:t>
            </a:r>
            <a:r>
              <a:rPr sz="1400" b="1" spc="-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Format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400" dirty="0">
                <a:latin typeface="Arial"/>
                <a:cs typeface="Arial"/>
              </a:rPr>
              <a:t>Print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maximum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subarray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sum.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400" b="1" spc="-10" dirty="0">
                <a:latin typeface="Arial"/>
                <a:cs typeface="Arial"/>
              </a:rPr>
              <a:t>Constraints</a:t>
            </a:r>
            <a:endParaRPr sz="1400" dirty="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985"/>
              </a:spcBef>
              <a:buSzPct val="71428"/>
              <a:buFont typeface="Symbol"/>
              <a:buChar char=""/>
              <a:tabLst>
                <a:tab pos="469900" algn="l"/>
              </a:tabLst>
            </a:pPr>
            <a:r>
              <a:rPr sz="1400" dirty="0">
                <a:latin typeface="Arial"/>
                <a:cs typeface="Arial"/>
              </a:rPr>
              <a:t>1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≤ N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≤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10^5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400" b="1" dirty="0">
                <a:latin typeface="Arial"/>
                <a:cs typeface="Arial"/>
              </a:rPr>
              <a:t>Sample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Input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400" spc="-50" dirty="0">
                <a:latin typeface="Arial"/>
                <a:cs typeface="Arial"/>
              </a:rPr>
              <a:t>8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400" dirty="0">
                <a:latin typeface="Arial"/>
                <a:cs typeface="Arial"/>
              </a:rPr>
              <a:t>-2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-3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4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-1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-</a:t>
            </a:r>
            <a:r>
              <a:rPr sz="1400" dirty="0">
                <a:latin typeface="Arial"/>
                <a:cs typeface="Arial"/>
              </a:rPr>
              <a:t>2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5</a:t>
            </a:r>
            <a:r>
              <a:rPr sz="1400" spc="30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-</a:t>
            </a:r>
            <a:r>
              <a:rPr sz="1400" spc="-50" dirty="0">
                <a:latin typeface="Arial"/>
                <a:cs typeface="Arial"/>
              </a:rPr>
              <a:t>3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400" b="1" dirty="0">
                <a:latin typeface="Arial"/>
                <a:cs typeface="Arial"/>
              </a:rPr>
              <a:t>Sample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Output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400" spc="-50" dirty="0">
                <a:latin typeface="Arial"/>
                <a:cs typeface="Arial"/>
              </a:rPr>
              <a:t>7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309" y="8947784"/>
            <a:ext cx="10629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PROGRAM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spc="-5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309" y="888618"/>
            <a:ext cx="4623435" cy="8024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import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java.util.*;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public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class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Main </a:t>
            </a:r>
            <a:r>
              <a:rPr sz="1400" spc="-50" dirty="0"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410209" marR="1127125" indent="-197485">
              <a:lnSpc>
                <a:spcPct val="158600"/>
              </a:lnSpc>
            </a:pPr>
            <a:r>
              <a:rPr sz="1400" dirty="0">
                <a:latin typeface="Arial"/>
                <a:cs typeface="Arial"/>
              </a:rPr>
              <a:t>public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static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void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main(String[]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args)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{ </a:t>
            </a:r>
            <a:r>
              <a:rPr sz="1400" dirty="0">
                <a:latin typeface="Arial"/>
                <a:cs typeface="Arial"/>
              </a:rPr>
              <a:t>Scanner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sc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new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Scanner(System.in);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400">
              <a:latin typeface="Arial"/>
              <a:cs typeface="Arial"/>
            </a:endParaRPr>
          </a:p>
          <a:p>
            <a:pPr marL="410209" marR="2639695">
              <a:lnSpc>
                <a:spcPct val="158700"/>
              </a:lnSpc>
            </a:pPr>
            <a:r>
              <a:rPr sz="1400" dirty="0">
                <a:latin typeface="Arial"/>
                <a:cs typeface="Arial"/>
              </a:rPr>
              <a:t>int n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sc.nextInt(); </a:t>
            </a:r>
            <a:r>
              <a:rPr sz="1400" dirty="0">
                <a:latin typeface="Arial"/>
                <a:cs typeface="Arial"/>
              </a:rPr>
              <a:t>int[]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arr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new</a:t>
            </a:r>
            <a:r>
              <a:rPr sz="1400" spc="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int[n];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400">
              <a:latin typeface="Arial"/>
              <a:cs typeface="Arial"/>
            </a:endParaRPr>
          </a:p>
          <a:p>
            <a:pPr marL="607060" marR="2356485" indent="-201295">
              <a:lnSpc>
                <a:spcPct val="15860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for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(int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0;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&lt;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n;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i++)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{ </a:t>
            </a:r>
            <a:r>
              <a:rPr sz="1400" dirty="0">
                <a:latin typeface="Arial"/>
                <a:cs typeface="Arial"/>
              </a:rPr>
              <a:t>arr[i] = </a:t>
            </a:r>
            <a:r>
              <a:rPr sz="1400" spc="-10" dirty="0">
                <a:latin typeface="Arial"/>
                <a:cs typeface="Arial"/>
              </a:rPr>
              <a:t>sc.nextInt();</a:t>
            </a:r>
            <a:endParaRPr sz="1400">
              <a:latin typeface="Arial"/>
              <a:cs typeface="Arial"/>
            </a:endParaRPr>
          </a:p>
          <a:p>
            <a:pPr marL="410209">
              <a:lnSpc>
                <a:spcPct val="100000"/>
              </a:lnSpc>
              <a:spcBef>
                <a:spcPts val="985"/>
              </a:spcBef>
            </a:pPr>
            <a:r>
              <a:rPr sz="1400" spc="-50" dirty="0"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400">
              <a:latin typeface="Arial"/>
              <a:cs typeface="Arial"/>
            </a:endParaRPr>
          </a:p>
          <a:p>
            <a:pPr marL="410209" marR="2383155">
              <a:lnSpc>
                <a:spcPct val="158600"/>
              </a:lnSpc>
            </a:pPr>
            <a:r>
              <a:rPr sz="1400" dirty="0">
                <a:latin typeface="Arial"/>
                <a:cs typeface="Arial"/>
              </a:rPr>
              <a:t>int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maxSum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arr[0];</a:t>
            </a:r>
            <a:r>
              <a:rPr sz="1400" spc="5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currentSum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arr[0];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Arial"/>
              <a:cs typeface="Arial"/>
            </a:endParaRPr>
          </a:p>
          <a:p>
            <a:pPr marL="405765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for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(int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1;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&lt;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n;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i++)</a:t>
            </a:r>
            <a:r>
              <a:rPr sz="1400" spc="10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607060" marR="5080">
              <a:lnSpc>
                <a:spcPct val="158600"/>
              </a:lnSpc>
              <a:spcBef>
                <a:spcPts val="5"/>
              </a:spcBef>
            </a:pPr>
            <a:r>
              <a:rPr sz="1400" dirty="0">
                <a:latin typeface="Arial"/>
                <a:cs typeface="Arial"/>
              </a:rPr>
              <a:t>currentSum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Math.max(arr[i],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currentSum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+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arr[i]); </a:t>
            </a:r>
            <a:r>
              <a:rPr sz="1400" dirty="0">
                <a:latin typeface="Arial"/>
                <a:cs typeface="Arial"/>
              </a:rPr>
              <a:t>maxSum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=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Math.max(maxSum,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currentSum);</a:t>
            </a:r>
            <a:endParaRPr sz="1400">
              <a:latin typeface="Arial"/>
              <a:cs typeface="Arial"/>
            </a:endParaRPr>
          </a:p>
          <a:p>
            <a:pPr marL="410209">
              <a:lnSpc>
                <a:spcPct val="100000"/>
              </a:lnSpc>
              <a:spcBef>
                <a:spcPts val="985"/>
              </a:spcBef>
            </a:pPr>
            <a:r>
              <a:rPr sz="1400" spc="-50" dirty="0"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400">
              <a:latin typeface="Arial"/>
              <a:cs typeface="Arial"/>
            </a:endParaRPr>
          </a:p>
          <a:p>
            <a:pPr marL="410209">
              <a:lnSpc>
                <a:spcPct val="100000"/>
              </a:lnSpc>
            </a:pPr>
            <a:r>
              <a:rPr sz="1400" spc="-10" dirty="0">
                <a:latin typeface="Arial"/>
                <a:cs typeface="Arial"/>
              </a:rPr>
              <a:t>System.out.println(maxSum);</a:t>
            </a:r>
            <a:endParaRPr sz="1400">
              <a:latin typeface="Arial"/>
              <a:cs typeface="Arial"/>
            </a:endParaRPr>
          </a:p>
          <a:p>
            <a:pPr marL="213360">
              <a:lnSpc>
                <a:spcPct val="100000"/>
              </a:lnSpc>
              <a:spcBef>
                <a:spcPts val="985"/>
              </a:spcBef>
            </a:pPr>
            <a:r>
              <a:rPr sz="1400" spc="-50" dirty="0"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400" spc="-50" dirty="0"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309" y="888618"/>
            <a:ext cx="86169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OUTPUT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5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252854"/>
            <a:ext cx="5731509" cy="111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245</Words>
  <Application>Microsoft Office PowerPoint</Application>
  <PresentationFormat>Custom</PresentationFormat>
  <Paragraphs>43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Symbol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SURYA. M</dc:creator>
  <cp:lastModifiedBy>Chapram Himateja</cp:lastModifiedBy>
  <cp:revision>1</cp:revision>
  <dcterms:created xsi:type="dcterms:W3CDTF">2026-08-25T03:45:03Z</dcterms:created>
  <dcterms:modified xsi:type="dcterms:W3CDTF">2026-08-25T03:46:41Z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2026-08-13T00:00:00Z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2026-08-25T00:00:00Z</vt:filetime>
  </property>
  <property fmtid="{D5CDD505-2E9C-101B-9397-08002B2CF9AE}" pid="5" name="Producer">
    <vt:lpwstr>www.ilovepdf.com</vt:lpwstr>
  </property>
</Properties>
</file>